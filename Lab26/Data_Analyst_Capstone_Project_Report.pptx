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usage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JavaScript</c:v>
                </c:pt>
                <c:pt idx="1">
                  <c:v>SQL</c:v>
                </c:pt>
                <c:pt idx="2">
                  <c:v>HTML/CSS</c:v>
                </c:pt>
                <c:pt idx="3">
                  <c:v>TypeScript</c:v>
                </c:pt>
                <c:pt idx="4">
                  <c:v>Python</c:v>
                </c:pt>
                <c:pt idx="5">
                  <c:v>Bash/Shell (all shells)</c:v>
                </c:pt>
                <c:pt idx="6">
                  <c:v>C#</c:v>
                </c:pt>
                <c:pt idx="7">
                  <c:v>Java</c:v>
                </c:pt>
                <c:pt idx="8">
                  <c:v>Go</c:v>
                </c:pt>
                <c:pt idx="9">
                  <c:v>Rust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14943</c:v>
                </c:pt>
                <c:pt idx="1">
                  <c:v>12602</c:v>
                </c:pt>
                <c:pt idx="2">
                  <c:v>12410</c:v>
                </c:pt>
                <c:pt idx="3">
                  <c:v>10709</c:v>
                </c:pt>
                <c:pt idx="4">
                  <c:v>9590</c:v>
                </c:pt>
                <c:pt idx="5">
                  <c:v>7244</c:v>
                </c:pt>
                <c:pt idx="6">
                  <c:v>6340</c:v>
                </c:pt>
                <c:pt idx="7">
                  <c:v>5982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Future preference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JavaScript</c:v>
                </c:pt>
                <c:pt idx="1">
                  <c:v>SQL</c:v>
                </c:pt>
                <c:pt idx="2">
                  <c:v>HTML/CSS</c:v>
                </c:pt>
                <c:pt idx="3">
                  <c:v>TypeScript</c:v>
                </c:pt>
                <c:pt idx="4">
                  <c:v>Python</c:v>
                </c:pt>
                <c:pt idx="5">
                  <c:v>Bash/Shell (all shells)</c:v>
                </c:pt>
                <c:pt idx="6">
                  <c:v>C#</c:v>
                </c:pt>
                <c:pt idx="7">
                  <c:v>Java</c:v>
                </c:pt>
                <c:pt idx="8">
                  <c:v>Go</c:v>
                </c:pt>
                <c:pt idx="9">
                  <c:v>Rust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11541</c:v>
                </c:pt>
                <c:pt idx="1">
                  <c:v>10944</c:v>
                </c:pt>
                <c:pt idx="2">
                  <c:v>10016</c:v>
                </c:pt>
                <c:pt idx="3">
                  <c:v>10437</c:v>
                </c:pt>
                <c:pt idx="4">
                  <c:v>8919</c:v>
                </c:pt>
                <c:pt idx="5">
                  <c:v>5582</c:v>
                </c:pt>
                <c:pt idx="6">
                  <c:v>5590</c:v>
                </c:pt>
                <c:pt idx="7">
                  <c:v>4048</c:v>
                </c:pt>
                <c:pt idx="8">
                  <c:v>5661</c:v>
                </c:pt>
                <c:pt idx="9">
                  <c:v>5597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usage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PostgreSQL</c:v>
                </c:pt>
                <c:pt idx="1">
                  <c:v>MySQL</c:v>
                </c:pt>
                <c:pt idx="2">
                  <c:v>SQLite</c:v>
                </c:pt>
                <c:pt idx="3">
                  <c:v>Redis</c:v>
                </c:pt>
                <c:pt idx="4">
                  <c:v>MongoDB</c:v>
                </c:pt>
                <c:pt idx="5">
                  <c:v>Microsoft SQL Server</c:v>
                </c:pt>
                <c:pt idx="6">
                  <c:v>Elasticsearch</c:v>
                </c:pt>
                <c:pt idx="7">
                  <c:v>MariaDB</c:v>
                </c:pt>
                <c:pt idx="8">
                  <c:v>Dynamodb</c:v>
                </c:pt>
                <c:pt idx="9">
                  <c:v>Oracle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11514</c:v>
                </c:pt>
                <c:pt idx="1">
                  <c:v>8556</c:v>
                </c:pt>
                <c:pt idx="2">
                  <c:v>7021</c:v>
                </c:pt>
                <c:pt idx="3">
                  <c:v>5814</c:v>
                </c:pt>
                <c:pt idx="4">
                  <c:v>5930</c:v>
                </c:pt>
                <c:pt idx="5">
                  <c:v>5870</c:v>
                </c:pt>
                <c:pt idx="6">
                  <c:v>3491</c:v>
                </c:pt>
                <c:pt idx="7">
                  <c:v>3994</c:v>
                </c:pt>
                <c:pt idx="8">
                  <c:v>2268</c:v>
                </c:pt>
                <c:pt idx="9">
                  <c:v>1907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Future preference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PostgreSQL</c:v>
                </c:pt>
                <c:pt idx="1">
                  <c:v>MySQL</c:v>
                </c:pt>
                <c:pt idx="2">
                  <c:v>SQLite</c:v>
                </c:pt>
                <c:pt idx="3">
                  <c:v>Redis</c:v>
                </c:pt>
                <c:pt idx="4">
                  <c:v>MongoDB</c:v>
                </c:pt>
                <c:pt idx="5">
                  <c:v>Microsoft SQL Server</c:v>
                </c:pt>
                <c:pt idx="6">
                  <c:v>Elasticsearch</c:v>
                </c:pt>
                <c:pt idx="7">
                  <c:v>MariaDB</c:v>
                </c:pt>
                <c:pt idx="8">
                  <c:v>Dynamodb</c:v>
                </c:pt>
                <c:pt idx="9">
                  <c:v>Oracle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12193</c:v>
                </c:pt>
                <c:pt idx="1">
                  <c:v>6204</c:v>
                </c:pt>
                <c:pt idx="2">
                  <c:v>6295</c:v>
                </c:pt>
                <c:pt idx="3">
                  <c:v>6384</c:v>
                </c:pt>
                <c:pt idx="4">
                  <c:v>5618</c:v>
                </c:pt>
                <c:pt idx="5">
                  <c:v>4345</c:v>
                </c:pt>
                <c:pt idx="6">
                  <c:v>3665</c:v>
                </c:pt>
                <c:pt idx="7">
                  <c:v>3078</c:v>
                </c:pt>
                <c:pt idx="8">
                  <c:v>2154</c:v>
                </c:pt>
                <c:pt idx="9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Data Analyst Capstone 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7E6F5"/>
                </a:solidFill>
                <a:latin typeface="Aptos"/>
              </a:rPr>
              <a:t>Developer Technology Skills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From data collection and wrangling to IBM Cognos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94760"/>
            <a:ext cx="32461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Learner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25112"/>
            <a:ext cx="2916936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A32"/>
                </a:solidFill>
                <a:latin typeface="Aptos"/>
              </a:rPr>
              <a:t>Kaung Htet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3794760"/>
            <a:ext cx="32461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931920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9B2D"/>
                </a:solidFill>
                <a:latin typeface="Aptos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325112"/>
            <a:ext cx="2916936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A32"/>
                </a:solidFill>
                <a:latin typeface="Aptos"/>
              </a:rPr>
              <a:t>September 26,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3794760"/>
            <a:ext cx="36118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931920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325112"/>
            <a:ext cx="3282696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Stack Overflow Developer Survey</a:t>
            </a:r>
            <a:br/>
            <a:r>
              <a:t>18,845 responses • 114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14476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2DCEB"/>
                </a:solidFill>
                <a:latin typeface="Aptos"/>
              </a:rPr>
              <a:t>IBM Data Analyst Professional Certificate —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Presentation structure aligned to the capstone grading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5448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476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Executive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55448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476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Introduction &amp; Methodology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317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68879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620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Programming Languages Trends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317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468879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8620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Programming Findings &amp; Implications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383279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7764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Database Trends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2461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383279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7764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Database Findings &amp; Implications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605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29768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6908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IBM Cognos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605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429768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46908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Discussion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749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521208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6052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Overall Findings &amp; Implications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5074920"/>
            <a:ext cx="50749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521208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1" y="5605272"/>
            <a:ext cx="4745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Key findings from the developer technology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44805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25880"/>
            <a:ext cx="1053388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JavaScript is the most frequently reported current language (14,943 respondents), followed by SQL and HTML/CSS.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PostgreSQL leads current database usage (11,514 respondents); MySQL and SQLite are also prominent.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Future preferences continue to include established technologies, while Go and Rust appear in the desired-language top 10.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Cognos dashboard combines technology usage, future preferences, and demographic patterns across three tabs.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Survey preferences are useful for understanding the developer ecosystem but should be combined with job-posting and training-market data for broader demand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Purpose, target audience, and value of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08760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01952"/>
            <a:ext cx="30998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Analyze current technology usage and future technology preferences among developers using the latest Stack Overflow Developer Survey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508760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Target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901952"/>
            <a:ext cx="30998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Data analysts, technology leaders, workforce planners, educators, and teams monitoring developer skill trends.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37160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508760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9B2D"/>
                </a:solidFill>
                <a:latin typeface="Aptos"/>
              </a:rP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901952"/>
            <a:ext cx="30998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Provide evidence for technology planning, skills development, training priorities, and further market research.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794760"/>
            <a:ext cx="64008" cy="173736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794760"/>
            <a:ext cx="103510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Key questions: Which languages and databases are widely used? Which technologies are developers interested in for the future?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The dashboard also examines platforms, web frameworks, age, country, education level, and age by education.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Data sources, collection methods, and key wrangling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0574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54480"/>
            <a:ext cx="1728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Data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47672"/>
            <a:ext cx="17282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Stack Overflow Developer Survey</a:t>
            </a:r>
            <a:br/>
            <a:r>
              <a:t>18,845 responses; 114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2D4B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574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554480"/>
            <a:ext cx="1728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947672"/>
            <a:ext cx="17282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Public dataset; project workflow also reviewed APIs and web scraping as data-collection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2D4B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417320"/>
            <a:ext cx="20574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1554480"/>
            <a:ext cx="1728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9B2D"/>
                </a:solidFill>
                <a:latin typeface="Aptos"/>
              </a:rPr>
              <a:t>Quality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947672"/>
            <a:ext cx="17282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Data types, missing values, duplicates, distributions, and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2D4B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17320"/>
            <a:ext cx="20574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1554480"/>
            <a:ext cx="1728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915F"/>
                </a:solidFill>
                <a:latin typeface="Aptos"/>
              </a:rPr>
              <a:t>Wrangling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947672"/>
            <a:ext cx="17282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Numeric conversion, imputation/normalization where appropriate, and splitting semicolon-separated technology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2D4B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417320"/>
            <a:ext cx="20574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2952" y="1554480"/>
            <a:ext cx="1728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Analysis &amp;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1947672"/>
            <a:ext cx="172821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Counts, distributions, comparisons, charts, and IBM Cognos 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2D4B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Programming Languages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Top 10 current usage versus next-year/future preference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7498079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234440"/>
            <a:ext cx="306324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7072" y="1371600"/>
            <a:ext cx="2734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Current top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1764792"/>
            <a:ext cx="2734056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JavaScript 14,943</a:t>
            </a:r>
            <a:br/>
            <a:r>
              <a:t>SQL 12,602</a:t>
            </a:r>
            <a:br/>
            <a:r>
              <a:t>HTML/CSS 12,410</a:t>
            </a:r>
            <a:br/>
            <a:r>
              <a:t>TypeScript 10,709</a:t>
            </a:r>
            <a:br/>
            <a:r>
              <a:t>Python 9,590</a:t>
            </a:r>
            <a:br/>
            <a:r>
              <a:t>Bash/Shell 7,244</a:t>
            </a:r>
            <a:br/>
            <a:r>
              <a:t>C# 6,340</a:t>
            </a:r>
            <a:br/>
            <a:r>
              <a:t>Java 5,982</a:t>
            </a:r>
            <a:br/>
            <a:r>
              <a:t>PHP 4,644</a:t>
            </a:r>
            <a:br/>
            <a:r>
              <a:t>PowerShell 3,438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730752"/>
            <a:ext cx="3063240" cy="239572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3867912"/>
            <a:ext cx="2734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Future top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4261104"/>
            <a:ext cx="27340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Aptos"/>
              </a:rPr>
              <a:t>JavaScript 11,541</a:t>
            </a:r>
            <a:br/>
            <a:r>
              <a:t>SQL 10,944</a:t>
            </a:r>
            <a:br/>
            <a:r>
              <a:t>TypeScript 10,437</a:t>
            </a:r>
            <a:br/>
            <a:r>
              <a:t>HTML/CSS 10,016</a:t>
            </a:r>
            <a:br/>
            <a:r>
              <a:t>Python 8,919</a:t>
            </a:r>
            <a:br/>
            <a:r>
              <a:t>Go 5,661</a:t>
            </a:r>
            <a:br/>
            <a:r>
              <a:t>Rust 5,597</a:t>
            </a:r>
            <a:br/>
            <a:r>
              <a:t>C# 5,590</a:t>
            </a:r>
            <a:br/>
            <a:r>
              <a:t>Bash/Shell 5,582</a:t>
            </a:r>
            <a:br/>
            <a:r>
              <a:t>Java 4,048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Programming Languages Trends — Findings and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What the current and future-preference comparison indicates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Finding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309981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JavaScript, SQL, HTML/CSS, TypeScript, and Python remain prominent across both measures.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2900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Finding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1"/>
            <a:ext cx="309981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The desired-language list includes Go and Rust in the top 10, indicating interest beyond established mainstream choices.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325880"/>
            <a:ext cx="342900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9B2D"/>
                </a:solidFill>
                <a:latin typeface="Aptos"/>
              </a:rPr>
              <a:t>Finding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856231"/>
            <a:ext cx="309981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Future preference counts are lower than current-use counts for several technologies because they represent a different survey question.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83280"/>
            <a:ext cx="64008" cy="2377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383280"/>
            <a:ext cx="1035100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Implication for skills planning: maintain strong foundations in widely used technologies while monitoring emerging preferences such as Go and Rust.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Implication for training: use current usage to support existing-skill needs and future preference to identify learning/adoption interests.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Limitation: these are developer-reported survey measures, not direct job-posting demand.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Database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Top 10 current databases versus future preference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7498079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234440"/>
            <a:ext cx="306324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7072" y="1371600"/>
            <a:ext cx="2734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Current top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1764792"/>
            <a:ext cx="2734056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A32"/>
                </a:solidFill>
                <a:latin typeface="Aptos"/>
              </a:rPr>
              <a:t>PostgreSQL 11,514</a:t>
            </a:r>
            <a:br/>
            <a:r>
              <a:t>MySQL 8,556</a:t>
            </a:r>
            <a:br/>
            <a:r>
              <a:t>SQLite 7,021</a:t>
            </a:r>
            <a:br/>
            <a:r>
              <a:t>MongoDB 5,930</a:t>
            </a:r>
            <a:br/>
            <a:r>
              <a:t>Microsoft SQL Server 5,870</a:t>
            </a:r>
            <a:br/>
            <a:r>
              <a:t>Redis 5,814</a:t>
            </a:r>
            <a:br/>
            <a:r>
              <a:t>MariaDB 3,994</a:t>
            </a:r>
            <a:br/>
            <a:r>
              <a:t>Elasticsearch 3,491</a:t>
            </a:r>
            <a:br/>
            <a:r>
              <a:t>Dynamodb 2,268</a:t>
            </a:r>
            <a:br/>
            <a:r>
              <a:t>Oracle 1,907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730752"/>
            <a:ext cx="3063240" cy="239572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3867912"/>
            <a:ext cx="2734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Future top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4261104"/>
            <a:ext cx="27340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A32"/>
                </a:solidFill>
                <a:latin typeface="Aptos"/>
              </a:rPr>
              <a:t>PostgreSQL 12,193</a:t>
            </a:r>
            <a:br/>
            <a:r>
              <a:t>Redis 6,384</a:t>
            </a:r>
            <a:br/>
            <a:r>
              <a:t>SQLite 6,295</a:t>
            </a:r>
            <a:br/>
            <a:r>
              <a:t>MySQL 6,204</a:t>
            </a:r>
            <a:br/>
            <a:r>
              <a:t>MongoDB 5,618</a:t>
            </a:r>
            <a:br/>
            <a:r>
              <a:t>Microsoft SQL Server 4,345</a:t>
            </a:r>
            <a:br/>
            <a:r>
              <a:t>Elasticsearch 3,665</a:t>
            </a:r>
            <a:br/>
            <a:r>
              <a:t>MariaDB 3,078</a:t>
            </a:r>
            <a:br/>
            <a:r>
              <a:t>Dynamodb 2,154</a:t>
            </a:r>
            <a:br/>
            <a:r>
              <a:t>Supabase 1,623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Database Trends — Findings and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Interpretation of current database usage and future preference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Finding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309981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PostgreSQL leads both current usage and future preference in this survey.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2900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Finding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1"/>
            <a:ext cx="309981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Redis has a notably strong future-preference position compared with its current-use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325880"/>
            <a:ext cx="342900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9B2D"/>
                </a:solidFill>
                <a:latin typeface="Aptos"/>
              </a:rPr>
              <a:t>Finding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856231"/>
            <a:ext cx="309981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Supabase appears in the future top 10 while Oracle appears in the current top 10, showing some movement in preferences.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83280"/>
            <a:ext cx="64008" cy="2377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383280"/>
            <a:ext cx="1035100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Implication: PostgreSQL, SQL, and widely used relational/database skills remain relevant to the surveyed developer population.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Implication: teams planning future learning or experimentation can monitor technologies with strong future preference, including Redis and Supabase.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Market-demand caution: survey preference should be triangulated with job postings, training portals, and other market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IBM Cognos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Three required tabs and the visualizations they contain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61188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17319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TAB 1 — Current Technology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10512"/>
            <a:ext cx="3282696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Top 10 programming languages • Top 10 databases • Top 10 platforms • Top 10 web frameworks</a:t>
            </a:r>
            <a:br/>
            <a:br/>
            <a:r>
              <a:t>Visuals: bar, column, word cloud, hierarchy bubble.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280160"/>
            <a:ext cx="361188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417319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TAB 2 — Future Technology 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1810512"/>
            <a:ext cx="3282696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Top 10 desired programming languages • Top 10 desired databases • Top 10 desired platforms • Top 10 desired web frameworks</a:t>
            </a:r>
            <a:br/>
            <a:br/>
            <a:r>
              <a:t>Visuals: bar, column, tree map, hierarchy bubble.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1280160"/>
            <a:ext cx="361188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417319"/>
            <a:ext cx="3282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9B2D"/>
                </a:solidFill>
                <a:latin typeface="Aptos"/>
              </a:rPr>
              <a:t>TAB 3 — Demographics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1810512"/>
            <a:ext cx="3282696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Age distribution • respondent count by country • formal education level • age classified by education level</a:t>
            </a:r>
            <a:br/>
            <a:br/>
            <a:r>
              <a:t>Visuals: pie, map, line, stacked bar.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92D4B"/>
                </a:solidFill>
                <a:latin typeface="Aptos"/>
              </a:rPr>
              <a:t>Dashboard purpose: provide an interactive view of technology usage, future preferences, and respondent demographics.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Key insights derived from the dashboard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452628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25880"/>
            <a:ext cx="10533888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Current technology usage is concentrated around widely established languages, databases, platforms, and frameworks.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Future-preference views preserve several mainstream technologies while highlighting technologies developers want to use or learn.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three dashboard tabs connect technology trends with respondent demographics, helping users explore the survey population in context.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dashboard is descriptive: it identifies patterns in survey responses rather than proving causal relationships or forecasting employment demand.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Combining these findings with external labor-market data would strengthen workforce and training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Overall Findings and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Connecting the results to broader technology and workforce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2064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69B4"/>
                </a:solidFill>
                <a:latin typeface="Aptos"/>
              </a:rPr>
              <a:t>Technology continuity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4791455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Core technologies such as JavaScript, SQL, HTML/CSS, Python, and PostgreSQL remain highly represented in the survey.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2064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463039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9191"/>
                </a:solidFill>
                <a:latin typeface="Aptos"/>
              </a:rPr>
              <a:t>Technology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856231"/>
            <a:ext cx="4791455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Future preferences include emerging or expanding interests such as Go, Rust, Redis, and Supabase.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512064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520440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9B2D"/>
                </a:solidFill>
                <a:latin typeface="Aptos"/>
              </a:rPr>
              <a:t>Skills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913632"/>
            <a:ext cx="4791455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Organizations can use current-use data for baseline skills and future-preference data to identify areas worth monitoring.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512064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3520440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915F"/>
                </a:solidFill>
                <a:latin typeface="Aptos"/>
              </a:rPr>
              <a:t>Evidence-based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3913632"/>
            <a:ext cx="4791455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Survey evidence should be combined with job postings, training portals, and market data before making workforce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Broader implication: technology skills planning benefits from continuously updated, multi-source evidence rather than a single survey snapshot.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Project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4663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25880"/>
            <a:ext cx="105338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The project successfully analyzes current developer technology usage and future technology preferences using the Stack Overflow Developer Survey.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Programming-language analysis shows strong representation of JavaScript, SQL, HTML/CSS, TypeScript, and Python, with Go and Rust among notable future preferences.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Database analysis shows PostgreSQL as a leading technology in both current and future-preference measures, with other shifts in relative preference.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IBM Cognos Analytics provides a three-tab dashboard covering current technology, future trends, and demographics.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The results can support skills and training discussions, but broader industry decisions should incorporate additional market evidence.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End-to-end workflow demonstrated: Collect → Clean → Explore → Analyze → Visualize → Communicate.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IBM Data Analyst Professional Certificate —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A69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7E6F5"/>
                </a:solidFill>
                <a:latin typeface="Aptos"/>
              </a:rPr>
              <a:t>Data Analyst Capstone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Kaung Htet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9191"/>
                </a:solidFill>
                <a:latin typeface="Apto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2DCEB"/>
                </a:solidFill>
                <a:latin typeface="Aptos"/>
              </a:rPr>
              <a:t>IBM Data Analyst Professional Certificate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